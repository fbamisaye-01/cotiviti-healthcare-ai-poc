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7" r:id="rId1"/>
  </p:sldMasterIdLst>
  <p:sldIdLst>
    <p:sldId id="271" r:id="rId2"/>
    <p:sldId id="257" r:id="rId3"/>
    <p:sldId id="265" r:id="rId4"/>
    <p:sldId id="266" r:id="rId5"/>
    <p:sldId id="258" r:id="rId6"/>
    <p:sldId id="268" r:id="rId7"/>
    <p:sldId id="272" r:id="rId8"/>
    <p:sldId id="259" r:id="rId9"/>
    <p:sldId id="260" r:id="rId10"/>
    <p:sldId id="264" r:id="rId11"/>
    <p:sldId id="261" r:id="rId12"/>
    <p:sldId id="273" r:id="rId13"/>
    <p:sldId id="276" r:id="rId14"/>
    <p:sldId id="278" r:id="rId15"/>
    <p:sldId id="277" r:id="rId16"/>
    <p:sldId id="262" r:id="rId17"/>
    <p:sldId id="274" r:id="rId18"/>
    <p:sldId id="263" r:id="rId19"/>
    <p:sldId id="26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7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7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0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7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30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2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90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46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2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5054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7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6782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65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84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9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5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  <p:sldLayoutId id="2147483980" r:id="rId13"/>
    <p:sldLayoutId id="2147483981" r:id="rId14"/>
    <p:sldLayoutId id="2147483982" r:id="rId15"/>
    <p:sldLayoutId id="21474839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2188" y="1811863"/>
            <a:ext cx="5915608" cy="1515533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sz="2000" b="1" dirty="0"/>
              <a:t>Clinical Decision Making and Pattern Recognition in Health </a:t>
            </a:r>
            <a:r>
              <a:rPr sz="2000" b="1" dirty="0" smtClean="0"/>
              <a:t>Care</a:t>
            </a:r>
            <a:r>
              <a:rPr lang="en-GB" sz="2000" b="1" dirty="0" smtClean="0"/>
              <a:t>:</a:t>
            </a:r>
            <a:r>
              <a:rPr lang="en-GB" sz="2000" dirty="0" smtClean="0"/>
              <a:t/>
            </a:r>
            <a:br>
              <a:rPr lang="en-GB" sz="2000" dirty="0" smtClean="0"/>
            </a:br>
            <a:r>
              <a:rPr lang="en-GB" sz="1600" dirty="0"/>
              <a:t>Chain Reasoning, Agentic Generative AI, Classification, Prediction, Inference, Clustering, and Time-Series Anomaly Detection for Treatment, Payment, and Operations (TPO)</a:t>
            </a:r>
            <a:endParaRPr sz="1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7501" y="3598327"/>
            <a:ext cx="6746033" cy="1377651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GB" b="1" dirty="0" smtClean="0"/>
              <a:t>By:</a:t>
            </a:r>
            <a:r>
              <a:rPr lang="en-GB" dirty="0"/>
              <a:t/>
            </a:r>
            <a:br>
              <a:rPr lang="en-GB" dirty="0"/>
            </a:br>
            <a:r>
              <a:rPr lang="en-GB" sz="1700" dirty="0"/>
              <a:t>INTERN - </a:t>
            </a:r>
            <a:r>
              <a:rPr lang="en-GB" sz="1700" dirty="0" err="1"/>
              <a:t>Bamisaye</a:t>
            </a:r>
            <a:r>
              <a:rPr lang="en-GB" sz="1700" dirty="0"/>
              <a:t> </a:t>
            </a:r>
            <a:r>
              <a:rPr lang="en-GB" sz="1700" dirty="0" err="1"/>
              <a:t>Folorunsho</a:t>
            </a:r>
            <a:r>
              <a:rPr lang="en-GB" sz="1700" dirty="0"/>
              <a:t> – Lead City University, Ibadan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b="1" dirty="0"/>
              <a:t>Prepared for: </a:t>
            </a:r>
            <a:r>
              <a:rPr dirty="0" err="1"/>
              <a:t>Cotiviti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668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GB" b="1" dirty="0"/>
              <a:t>Agenda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716833"/>
            <a:ext cx="6591985" cy="4618653"/>
          </a:xfrm>
        </p:spPr>
        <p:txBody>
          <a:bodyPr>
            <a:normAutofit/>
          </a:bodyPr>
          <a:lstStyle/>
          <a:p>
            <a:r>
              <a:rPr lang="en-GB" dirty="0"/>
              <a:t>Introduction</a:t>
            </a:r>
          </a:p>
          <a:p>
            <a:r>
              <a:rPr lang="en-GB" dirty="0"/>
              <a:t>AI-Driven Healthcare </a:t>
            </a:r>
            <a:r>
              <a:rPr lang="en-GB" dirty="0" smtClean="0"/>
              <a:t>Model</a:t>
            </a:r>
          </a:p>
          <a:p>
            <a:r>
              <a:rPr lang="en-GB" dirty="0" smtClean="0"/>
              <a:t>Concept </a:t>
            </a:r>
            <a:r>
              <a:rPr lang="en-GB" dirty="0"/>
              <a:t>Overview</a:t>
            </a:r>
          </a:p>
          <a:p>
            <a:r>
              <a:rPr lang="en-GB" dirty="0"/>
              <a:t>AI/ML Tasks</a:t>
            </a:r>
          </a:p>
          <a:p>
            <a:r>
              <a:rPr lang="en-GB" dirty="0"/>
              <a:t>AI Approaches</a:t>
            </a:r>
          </a:p>
          <a:p>
            <a:r>
              <a:rPr lang="en-GB" dirty="0"/>
              <a:t>Current Trends</a:t>
            </a:r>
          </a:p>
          <a:p>
            <a:r>
              <a:rPr lang="en-GB" dirty="0"/>
              <a:t>Opportunities</a:t>
            </a:r>
          </a:p>
          <a:p>
            <a:r>
              <a:rPr lang="en-GB" dirty="0"/>
              <a:t>Threats</a:t>
            </a:r>
          </a:p>
          <a:p>
            <a:r>
              <a:rPr lang="en-GB" dirty="0"/>
              <a:t>Strategic Recommendations</a:t>
            </a:r>
          </a:p>
          <a:p>
            <a:r>
              <a:rPr lang="en-GB" dirty="0"/>
              <a:t>Conclusion</a:t>
            </a:r>
          </a:p>
          <a:p>
            <a:r>
              <a:rPr lang="en-GB" dirty="0"/>
              <a:t>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GB" dirty="0"/>
              <a:t>Healthcare generates vast clinical, financial, and operational data.</a:t>
            </a:r>
          </a:p>
          <a:p>
            <a:pPr>
              <a:defRPr sz="2000"/>
            </a:pPr>
            <a:r>
              <a:rPr lang="en-GB" dirty="0"/>
              <a:t>AI improves Treatment, Payment, and Operations (TPO).</a:t>
            </a:r>
          </a:p>
          <a:p>
            <a:pPr>
              <a:defRPr sz="2000"/>
            </a:pPr>
            <a:r>
              <a:rPr lang="en-GB" dirty="0"/>
              <a:t>Agentic generative AI and large language models (LLMs) automate complex, </a:t>
            </a:r>
            <a:r>
              <a:rPr lang="en-GB" dirty="0" smtClean="0"/>
              <a:t>and multi-step </a:t>
            </a:r>
            <a:r>
              <a:rPr lang="en-GB" dirty="0"/>
              <a:t>workflows.</a:t>
            </a:r>
          </a:p>
          <a:p>
            <a:pPr>
              <a:defRPr sz="2000"/>
            </a:pPr>
            <a:r>
              <a:rPr lang="en-GB" dirty="0"/>
              <a:t>Strategic relevance to </a:t>
            </a:r>
            <a:r>
              <a:rPr lang="en-GB" dirty="0" err="1"/>
              <a:t>Cotiviti</a:t>
            </a:r>
            <a:r>
              <a:rPr lang="en-GB" dirty="0"/>
              <a:t>: enhanced payment integrity and healthcare analytics.</a:t>
            </a:r>
          </a:p>
        </p:txBody>
      </p:sp>
    </p:spTree>
    <p:extLst>
      <p:ext uri="{BB962C8B-B14F-4D97-AF65-F5344CB8AC3E}">
        <p14:creationId xmlns:p14="http://schemas.microsoft.com/office/powerpoint/2010/main" val="105172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836" y="634483"/>
            <a:ext cx="6798734" cy="625415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GB" sz="2800" b="1" dirty="0"/>
              <a:t>AI-Driven Healthcare Model</a:t>
            </a:r>
            <a:endParaRPr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95337" y="6512900"/>
            <a:ext cx="4465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smtClean="0"/>
              <a:t>Figure </a:t>
            </a:r>
            <a:r>
              <a:rPr lang="en-GB" sz="1400" b="1" dirty="0"/>
              <a:t>i</a:t>
            </a:r>
            <a:r>
              <a:rPr lang="en-GB" sz="1400" b="1" dirty="0" smtClean="0"/>
              <a:t>: </a:t>
            </a:r>
            <a:r>
              <a:rPr lang="en-GB" sz="1400" dirty="0"/>
              <a:t>AI-Driven Healthcare Model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2" y="1259898"/>
            <a:ext cx="8957388" cy="5253002"/>
          </a:xfrm>
        </p:spPr>
      </p:pic>
    </p:spTree>
    <p:extLst>
      <p:ext uri="{BB962C8B-B14F-4D97-AF65-F5344CB8AC3E}">
        <p14:creationId xmlns:p14="http://schemas.microsoft.com/office/powerpoint/2010/main" val="152957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/>
              <a:t>Concept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7503" y="2133600"/>
            <a:ext cx="6826898" cy="3777622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GB" dirty="0"/>
              <a:t>Clinical Decision Making &amp; Pattern Recognition defined</a:t>
            </a:r>
          </a:p>
          <a:p>
            <a:pPr>
              <a:defRPr sz="2000"/>
            </a:pPr>
            <a:r>
              <a:rPr lang="en-GB" dirty="0"/>
              <a:t>Clinical Decision Making: The process of diagnosing conditions, selecting treatments, and managing patient care (</a:t>
            </a:r>
            <a:r>
              <a:rPr lang="en-GB" dirty="0" err="1"/>
              <a:t>Topol</a:t>
            </a:r>
            <a:r>
              <a:rPr lang="en-GB" dirty="0"/>
              <a:t>, 2019</a:t>
            </a:r>
            <a:r>
              <a:rPr lang="en-GB" dirty="0" smtClean="0"/>
              <a:t>).</a:t>
            </a:r>
          </a:p>
          <a:p>
            <a:pPr marL="0" indent="0">
              <a:buNone/>
              <a:defRPr sz="2000"/>
            </a:pPr>
            <a:endParaRPr lang="en-GB" dirty="0"/>
          </a:p>
          <a:p>
            <a:pPr>
              <a:defRPr sz="2000"/>
            </a:pPr>
            <a:r>
              <a:rPr lang="en-GB" dirty="0"/>
              <a:t>Pattern Recognition: The process of identifying trends, anomalies, and relationships in structured and unstructured healthcare data (</a:t>
            </a:r>
            <a:r>
              <a:rPr lang="en-GB" dirty="0" err="1"/>
              <a:t>Esteva</a:t>
            </a:r>
            <a:r>
              <a:rPr lang="en-GB" dirty="0"/>
              <a:t> et al., 2019).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GB" b="1" dirty="0" smtClean="0"/>
              <a:t>AI/ML Tasks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GB" dirty="0"/>
              <a:t>Classification</a:t>
            </a:r>
          </a:p>
          <a:p>
            <a:pPr>
              <a:defRPr sz="2000"/>
            </a:pPr>
            <a:r>
              <a:rPr lang="en-GB" dirty="0"/>
              <a:t>Prediction</a:t>
            </a:r>
          </a:p>
          <a:p>
            <a:pPr>
              <a:defRPr sz="2000"/>
            </a:pPr>
            <a:r>
              <a:rPr lang="en-GB" dirty="0"/>
              <a:t>Inference</a:t>
            </a:r>
          </a:p>
          <a:p>
            <a:pPr>
              <a:defRPr sz="2000"/>
            </a:pPr>
            <a:r>
              <a:rPr lang="en-GB" dirty="0"/>
              <a:t>Clustering</a:t>
            </a:r>
          </a:p>
          <a:p>
            <a:pPr>
              <a:defRPr sz="2000"/>
            </a:pPr>
            <a:r>
              <a:rPr lang="en-GB" dirty="0"/>
              <a:t>Time-series anomaly </a:t>
            </a:r>
            <a:r>
              <a:rPr lang="en-GB" dirty="0" smtClean="0"/>
              <a:t>detection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28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GB" b="1" dirty="0" smtClean="0"/>
              <a:t>AI Capabilities/Approaches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GB" dirty="0" smtClean="0"/>
              <a:t>Chain reasoning</a:t>
            </a:r>
          </a:p>
          <a:p>
            <a:pPr>
              <a:defRPr sz="2000"/>
            </a:pPr>
            <a:r>
              <a:rPr lang="en-GB" dirty="0" smtClean="0"/>
              <a:t>Agentic generative 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462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/>
              <a:t>Current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GB" dirty="0"/>
              <a:t>Generative AI for clinical documentation and decision support (</a:t>
            </a:r>
            <a:r>
              <a:rPr lang="en-GB" dirty="0" err="1"/>
              <a:t>Dullabh</a:t>
            </a:r>
            <a:r>
              <a:rPr lang="en-GB" dirty="0"/>
              <a:t> et al., 2026).</a:t>
            </a:r>
          </a:p>
          <a:p>
            <a:pPr>
              <a:defRPr sz="2000"/>
            </a:pPr>
            <a:r>
              <a:rPr lang="en-GB" dirty="0"/>
              <a:t>Agentic AI for autonomous healthcare workflows (</a:t>
            </a:r>
            <a:r>
              <a:rPr lang="en-GB" dirty="0" err="1"/>
              <a:t>Hou</a:t>
            </a:r>
            <a:r>
              <a:rPr lang="en-GB" dirty="0"/>
              <a:t> et al., 2026; Lai et al., 2026).</a:t>
            </a:r>
          </a:p>
          <a:p>
            <a:pPr>
              <a:defRPr sz="2000"/>
            </a:pPr>
            <a:r>
              <a:rPr lang="en-GB" dirty="0"/>
              <a:t>Predictive analytics for population health management.</a:t>
            </a:r>
          </a:p>
          <a:p>
            <a:pPr>
              <a:defRPr sz="2000"/>
            </a:pPr>
            <a:r>
              <a:rPr lang="en-GB" dirty="0"/>
              <a:t>Multimodal AI integrating text, medical imaging, laboratory, and monitoring data (</a:t>
            </a:r>
            <a:r>
              <a:rPr lang="en-GB" dirty="0" err="1"/>
              <a:t>Vatsal</a:t>
            </a:r>
            <a:r>
              <a:rPr lang="en-GB" dirty="0"/>
              <a:t> et al., 2026).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 smtClean="0"/>
              <a:t>Opportunities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GB" dirty="0" smtClean="0"/>
              <a:t>Opportunities are</a:t>
            </a:r>
            <a:r>
              <a:rPr dirty="0" smtClean="0"/>
              <a:t>:</a:t>
            </a:r>
            <a:endParaRPr lang="en-GB" dirty="0" smtClean="0"/>
          </a:p>
          <a:p>
            <a:pPr>
              <a:defRPr sz="2000"/>
            </a:pPr>
            <a:r>
              <a:rPr lang="en-GB" dirty="0"/>
              <a:t>Better diagnosis</a:t>
            </a:r>
          </a:p>
          <a:p>
            <a:pPr>
              <a:defRPr sz="2000"/>
            </a:pPr>
            <a:r>
              <a:rPr lang="en-GB" dirty="0"/>
              <a:t>Earlier disease detection</a:t>
            </a:r>
          </a:p>
          <a:p>
            <a:pPr>
              <a:defRPr sz="2000"/>
            </a:pPr>
            <a:r>
              <a:rPr lang="en-GB" dirty="0"/>
              <a:t>Claims automation</a:t>
            </a:r>
          </a:p>
          <a:p>
            <a:pPr>
              <a:defRPr sz="2000"/>
            </a:pPr>
            <a:r>
              <a:rPr lang="en-GB" dirty="0"/>
              <a:t>Lower healthcare costs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 smtClean="0"/>
              <a:t>Threats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GB" dirty="0" smtClean="0"/>
              <a:t>Threats include</a:t>
            </a:r>
            <a:r>
              <a:rPr dirty="0" smtClean="0"/>
              <a:t>:</a:t>
            </a:r>
            <a:endParaRPr lang="en-GB" dirty="0" smtClean="0"/>
          </a:p>
          <a:p>
            <a:pPr>
              <a:defRPr sz="2000"/>
            </a:pPr>
            <a:r>
              <a:rPr lang="en-GB" dirty="0" smtClean="0"/>
              <a:t>Hallucinations</a:t>
            </a:r>
            <a:endParaRPr lang="en-GB" dirty="0"/>
          </a:p>
          <a:p>
            <a:pPr>
              <a:defRPr sz="2000"/>
            </a:pPr>
            <a:r>
              <a:rPr lang="en-GB" dirty="0"/>
              <a:t>Bias</a:t>
            </a:r>
          </a:p>
          <a:p>
            <a:pPr>
              <a:defRPr sz="2000"/>
            </a:pPr>
            <a:r>
              <a:rPr lang="en-GB" dirty="0" smtClean="0"/>
              <a:t>Privacy</a:t>
            </a:r>
          </a:p>
          <a:p>
            <a:pPr>
              <a:defRPr sz="2000"/>
            </a:pPr>
            <a:r>
              <a:rPr lang="en-GB" dirty="0" smtClean="0"/>
              <a:t>Security</a:t>
            </a:r>
            <a:endParaRPr lang="en-GB" dirty="0"/>
          </a:p>
          <a:p>
            <a:pPr>
              <a:defRPr sz="2000"/>
            </a:pPr>
            <a:r>
              <a:rPr lang="en-GB" dirty="0"/>
              <a:t>Regulatory </a:t>
            </a:r>
            <a:r>
              <a:rPr lang="en-GB" dirty="0" smtClean="0"/>
              <a:t>compliance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73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/>
              <a:t>Strategic Recommendations for </a:t>
            </a:r>
            <a:r>
              <a:rPr b="1" dirty="0" err="1"/>
              <a:t>Cotiviti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GB" dirty="0"/>
              <a:t>Invest in agentic AI for workflow automation (</a:t>
            </a:r>
            <a:r>
              <a:rPr lang="en-GB" dirty="0" err="1"/>
              <a:t>Hou</a:t>
            </a:r>
            <a:r>
              <a:rPr lang="en-GB" dirty="0"/>
              <a:t> et al., 2026).</a:t>
            </a:r>
          </a:p>
          <a:p>
            <a:pPr>
              <a:defRPr sz="2000"/>
            </a:pPr>
            <a:r>
              <a:rPr lang="en-GB" dirty="0"/>
              <a:t>Expand predictive analytics for proactive decision-making (</a:t>
            </a:r>
            <a:r>
              <a:rPr lang="en-GB" dirty="0" err="1"/>
              <a:t>Rajpurkar</a:t>
            </a:r>
            <a:r>
              <a:rPr lang="en-GB" dirty="0"/>
              <a:t> et al., 2022).</a:t>
            </a:r>
          </a:p>
          <a:p>
            <a:pPr>
              <a:defRPr sz="2000"/>
            </a:pPr>
            <a:r>
              <a:rPr lang="en-GB" dirty="0"/>
              <a:t>Integrate multimodal AI platforms for comprehensive data analysis (</a:t>
            </a:r>
            <a:r>
              <a:rPr lang="en-GB" dirty="0" err="1"/>
              <a:t>Vatsal</a:t>
            </a:r>
            <a:r>
              <a:rPr lang="en-GB" dirty="0"/>
              <a:t> et al., 2026).</a:t>
            </a:r>
          </a:p>
          <a:p>
            <a:pPr>
              <a:defRPr sz="2000"/>
            </a:pPr>
            <a:r>
              <a:rPr lang="en-GB" dirty="0"/>
              <a:t>Strengthen payment integrity and operational efficiency through AI-driven </a:t>
            </a:r>
            <a:r>
              <a:rPr lang="en-GB" dirty="0" smtClean="0"/>
              <a:t>automation.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8433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GB" b="1" dirty="0"/>
              <a:t>Proof of Concept </a:t>
            </a:r>
            <a:r>
              <a:rPr lang="en-GB" b="1" dirty="0" smtClean="0"/>
              <a:t>Overview</a:t>
            </a:r>
            <a:r>
              <a:rPr lang="en-GB" b="1" dirty="0"/>
              <a:t/>
            </a:r>
            <a:br>
              <a:rPr lang="en-GB" b="1" dirty="0"/>
            </a:br>
            <a:r>
              <a:rPr lang="it-IT" sz="2000" dirty="0"/>
              <a:t>AI Clinical Decision Support Portal</a:t>
            </a:r>
            <a:r>
              <a:rPr lang="it-IT" dirty="0"/>
              <a:t/>
            </a:r>
            <a:br>
              <a:rPr lang="it-IT" dirty="0"/>
            </a:br>
            <a:endParaRPr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0227" y="1508448"/>
            <a:ext cx="8675822" cy="3800669"/>
          </a:xfrm>
        </p:spPr>
        <p:txBody>
          <a:bodyPr/>
          <a:lstStyle/>
          <a:p>
            <a:pPr marL="0" indent="0">
              <a:buNone/>
            </a:pPr>
            <a:r>
              <a:rPr lang="en-GB" b="1" dirty="0" smtClean="0"/>
              <a:t>Objective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r>
              <a:rPr lang="en-GB" dirty="0"/>
              <a:t>Develop an interactive clinical decision support prototype that uses a Large Language Model (LLM) to </a:t>
            </a:r>
            <a:r>
              <a:rPr lang="en-GB" dirty="0" err="1"/>
              <a:t>analyze</a:t>
            </a:r>
            <a:r>
              <a:rPr lang="en-GB" dirty="0"/>
              <a:t> patient symptoms and generate AI-assisted clinical recommendations for Treatment, Payment, and Operations (TPO).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2082374" y="4149013"/>
            <a:ext cx="3488001" cy="2597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smtClean="0"/>
              <a:t>Python</a:t>
            </a:r>
          </a:p>
          <a:p>
            <a:r>
              <a:rPr lang="it-IT" dirty="0" smtClean="0"/>
              <a:t>Streamlit</a:t>
            </a:r>
          </a:p>
          <a:p>
            <a:r>
              <a:rPr lang="it-IT" dirty="0" smtClean="0"/>
              <a:t>Hugging Face LLM</a:t>
            </a:r>
          </a:p>
          <a:p>
            <a:r>
              <a:rPr lang="it-IT" dirty="0" smtClean="0"/>
              <a:t>JSON API</a:t>
            </a:r>
          </a:p>
          <a:p>
            <a:r>
              <a:rPr lang="it-IT" dirty="0" smtClean="0"/>
              <a:t>Native Python Libraries</a:t>
            </a:r>
            <a:endParaRPr lang="en-GB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80768" y="3581917"/>
            <a:ext cx="4060604" cy="59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 sz="2800"/>
            </a:pPr>
            <a:r>
              <a:rPr lang="en-GB" b="1" dirty="0"/>
              <a:t>Technology Stack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77867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GB" b="1" dirty="0"/>
              <a:t>System Workflow</a:t>
            </a:r>
            <a:br>
              <a:rPr lang="en-GB" b="1" dirty="0"/>
            </a:br>
            <a:r>
              <a:rPr lang="en-GB" sz="2000" b="1" dirty="0"/>
              <a:t>Agentic AI Processing Pipeline</a:t>
            </a:r>
            <a:endParaRPr sz="20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0" y="1667275"/>
            <a:ext cx="2752531" cy="4966791"/>
          </a:xfrm>
        </p:spPr>
      </p:pic>
      <p:sp>
        <p:nvSpPr>
          <p:cNvPr id="7" name="Content Placeholder 3"/>
          <p:cNvSpPr txBox="1">
            <a:spLocks/>
          </p:cNvSpPr>
          <p:nvPr/>
        </p:nvSpPr>
        <p:spPr>
          <a:xfrm>
            <a:off x="4320075" y="2357533"/>
            <a:ext cx="4086808" cy="2251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800" b="1" dirty="0"/>
              <a:t>Processing Stages</a:t>
            </a:r>
            <a:endParaRPr lang="it-IT" sz="2800" dirty="0" smtClean="0"/>
          </a:p>
          <a:p>
            <a:r>
              <a:rPr lang="it-IT" dirty="0" smtClean="0"/>
              <a:t>Clinical </a:t>
            </a:r>
            <a:r>
              <a:rPr lang="it-IT" dirty="0"/>
              <a:t>Text Classification</a:t>
            </a:r>
          </a:p>
          <a:p>
            <a:r>
              <a:rPr lang="it-IT" dirty="0"/>
              <a:t>Pattern Recognition </a:t>
            </a:r>
          </a:p>
          <a:p>
            <a:r>
              <a:rPr lang="it-IT" dirty="0"/>
              <a:t>LLM Chain Reasoning </a:t>
            </a:r>
          </a:p>
          <a:p>
            <a:r>
              <a:rPr lang="it-IT" dirty="0"/>
              <a:t>Clinical Inference </a:t>
            </a:r>
          </a:p>
          <a:p>
            <a:r>
              <a:rPr lang="it-IT" dirty="0"/>
              <a:t>Decision Support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218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66151"/>
          </a:xfrm>
        </p:spPr>
        <p:txBody>
          <a:bodyPr/>
          <a:lstStyle/>
          <a:p>
            <a:r>
              <a:rPr lang="it-IT" b="1" dirty="0"/>
              <a:t>Demonstration</a:t>
            </a:r>
            <a:endParaRPr lang="it-IT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4832" y="2152270"/>
            <a:ext cx="3450679" cy="1669653"/>
          </a:xfrm>
        </p:spPr>
        <p:txBody>
          <a:bodyPr>
            <a:normAutofit/>
          </a:bodyPr>
          <a:lstStyle/>
          <a:p>
            <a:r>
              <a:rPr lang="en-GB" dirty="0"/>
              <a:t>Persistent fever (101°F)</a:t>
            </a:r>
          </a:p>
          <a:p>
            <a:r>
              <a:rPr lang="en-GB" dirty="0"/>
              <a:t>Dry hacking cough</a:t>
            </a:r>
          </a:p>
          <a:p>
            <a:r>
              <a:rPr lang="en-GB" dirty="0"/>
              <a:t>Severe headache</a:t>
            </a:r>
          </a:p>
          <a:p>
            <a:r>
              <a:rPr lang="en-GB" dirty="0"/>
              <a:t>Symptoms lasting 48 </a:t>
            </a:r>
            <a:r>
              <a:rPr lang="en-GB" dirty="0" smtClean="0"/>
              <a:t>hours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44993" y="1790321"/>
            <a:ext cx="2854183" cy="432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Moderate </a:t>
            </a:r>
            <a:r>
              <a:rPr lang="en-GB" dirty="0" smtClean="0"/>
              <a:t>Risk</a:t>
            </a: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443297" y="4583932"/>
            <a:ext cx="4081317" cy="2024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Acute Viral Upper Respiratory Infection</a:t>
            </a:r>
          </a:p>
          <a:p>
            <a:r>
              <a:rPr lang="en-GB" dirty="0"/>
              <a:t>Influenza</a:t>
            </a:r>
          </a:p>
          <a:p>
            <a:r>
              <a:rPr lang="en-GB" dirty="0"/>
              <a:t>Early COVID-19</a:t>
            </a:r>
          </a:p>
          <a:p>
            <a:r>
              <a:rPr lang="en-GB" dirty="0"/>
              <a:t>Viral Sinusitis</a:t>
            </a:r>
            <a:endParaRPr lang="it-IT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4809036" y="3015087"/>
            <a:ext cx="3450679" cy="130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Rest</a:t>
            </a:r>
          </a:p>
          <a:p>
            <a:r>
              <a:rPr lang="it-IT" dirty="0"/>
              <a:t>Hydration</a:t>
            </a:r>
          </a:p>
          <a:p>
            <a:r>
              <a:rPr lang="it-IT" dirty="0" smtClean="0"/>
              <a:t>Antipyretics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99377" y="1392331"/>
            <a:ext cx="2218468" cy="358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400" b="1" dirty="0"/>
              <a:t>Sample Input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689295" y="1392331"/>
            <a:ext cx="2218468" cy="358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b="1" dirty="0"/>
              <a:t>Risk </a:t>
            </a:r>
            <a:r>
              <a:rPr lang="en-GB" sz="2400" b="1" dirty="0" smtClean="0"/>
              <a:t>Level</a:t>
            </a:r>
            <a:endParaRPr lang="it-IT" sz="2400" b="1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689294" y="2231671"/>
            <a:ext cx="4184117" cy="358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400" b="1" dirty="0"/>
              <a:t>Recommended Next Steps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99377" y="3840576"/>
            <a:ext cx="2031856" cy="358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b="1" dirty="0"/>
              <a:t>AI Output</a:t>
            </a:r>
            <a:endParaRPr lang="it-IT" sz="2400" b="1" dirty="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599377" y="1776974"/>
            <a:ext cx="1593318" cy="358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000" b="1" dirty="0">
                <a:solidFill>
                  <a:schemeClr val="accent1"/>
                </a:solidFill>
              </a:rPr>
              <a:t>Symptoms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603311" y="4225732"/>
            <a:ext cx="2615750" cy="358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000" b="1" dirty="0">
                <a:solidFill>
                  <a:schemeClr val="accent1"/>
                </a:solidFill>
              </a:rPr>
              <a:t>Possible Conditions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4809036" y="2622437"/>
            <a:ext cx="1593318" cy="4154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000" b="1" dirty="0" smtClean="0">
                <a:solidFill>
                  <a:schemeClr val="accent1"/>
                </a:solidFill>
              </a:rPr>
              <a:t>Treatment</a:t>
            </a:r>
            <a:endParaRPr lang="it-IT" sz="2000" b="1" dirty="0">
              <a:solidFill>
                <a:schemeClr val="accent1"/>
              </a:solidFill>
            </a:endParaRPr>
          </a:p>
        </p:txBody>
      </p:sp>
      <p:sp>
        <p:nvSpPr>
          <p:cNvPr id="18" name="Content Placeholder 3"/>
          <p:cNvSpPr txBox="1">
            <a:spLocks/>
          </p:cNvSpPr>
          <p:nvPr/>
        </p:nvSpPr>
        <p:spPr>
          <a:xfrm>
            <a:off x="4809035" y="4676570"/>
            <a:ext cx="3849773" cy="43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Standard ambulatory </a:t>
            </a:r>
            <a:r>
              <a:rPr lang="it-IT" dirty="0" smtClean="0"/>
              <a:t>billing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4689295" y="4229078"/>
            <a:ext cx="2383310" cy="358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400" b="1" dirty="0"/>
              <a:t>Payment</a:t>
            </a:r>
          </a:p>
        </p:txBody>
      </p:sp>
      <p:sp>
        <p:nvSpPr>
          <p:cNvPr id="21" name="Content Placeholder 3"/>
          <p:cNvSpPr txBox="1">
            <a:spLocks/>
          </p:cNvSpPr>
          <p:nvPr/>
        </p:nvSpPr>
        <p:spPr>
          <a:xfrm>
            <a:off x="4809035" y="5560668"/>
            <a:ext cx="3849773" cy="43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Schedule 48-hour </a:t>
            </a:r>
            <a:r>
              <a:rPr lang="en-GB" dirty="0" smtClean="0"/>
              <a:t>follow-up</a:t>
            </a:r>
            <a:endParaRPr lang="it-IT" dirty="0" smtClean="0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4689295" y="5113176"/>
            <a:ext cx="2383310" cy="358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400" b="1" dirty="0" smtClean="0"/>
              <a:t>Operations</a:t>
            </a:r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54652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78119"/>
          </a:xfrm>
        </p:spPr>
        <p:txBody>
          <a:bodyPr/>
          <a:lstStyle/>
          <a:p>
            <a:r>
              <a:rPr lang="it-IT" b="1" dirty="0"/>
              <a:t>Engineering Highlights</a:t>
            </a:r>
            <a:endParaRPr lang="it-IT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42415" y="1502230"/>
            <a:ext cx="6912336" cy="4189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Proof of Concept </a:t>
            </a:r>
            <a:r>
              <a:rPr lang="it-IT" dirty="0" smtClean="0"/>
              <a:t>Capabilities</a:t>
            </a:r>
          </a:p>
          <a:p>
            <a:r>
              <a:rPr lang="it-IT" dirty="0"/>
              <a:t>Interactive Streamlit Web Application</a:t>
            </a:r>
          </a:p>
          <a:p>
            <a:r>
              <a:rPr lang="it-IT" dirty="0"/>
              <a:t>Live Clinical Symptom Analysis</a:t>
            </a:r>
          </a:p>
          <a:p>
            <a:r>
              <a:rPr lang="it-IT" dirty="0"/>
              <a:t>Large Language Model (LLM) Integration</a:t>
            </a:r>
          </a:p>
          <a:p>
            <a:r>
              <a:rPr lang="it-IT" dirty="0"/>
              <a:t>Pattern Recognition</a:t>
            </a:r>
          </a:p>
          <a:p>
            <a:r>
              <a:rPr lang="it-IT" dirty="0"/>
              <a:t>Clinical Decision Support</a:t>
            </a:r>
          </a:p>
          <a:p>
            <a:r>
              <a:rPr lang="it-IT" dirty="0"/>
              <a:t>Structured AI Output</a:t>
            </a:r>
          </a:p>
          <a:p>
            <a:r>
              <a:rPr lang="it-IT" dirty="0"/>
              <a:t>Treatment, Payment &amp; Operations (TPO) Recommendations</a:t>
            </a:r>
          </a:p>
          <a:p>
            <a:r>
              <a:rPr lang="it-IT" dirty="0"/>
              <a:t>Automatic Offline Fallback when Cloud AI is </a:t>
            </a:r>
            <a:r>
              <a:rPr lang="it-IT" dirty="0" smtClean="0"/>
              <a:t>Unavailable</a:t>
            </a:r>
          </a:p>
        </p:txBody>
      </p:sp>
    </p:spTree>
    <p:extLst>
      <p:ext uri="{BB962C8B-B14F-4D97-AF65-F5344CB8AC3E}">
        <p14:creationId xmlns:p14="http://schemas.microsoft.com/office/powerpoint/2010/main" val="218817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GB" dirty="0"/>
              <a:t>AI is transforming healthcare across treatment, payment, and operations (TPO).</a:t>
            </a:r>
          </a:p>
          <a:p>
            <a:pPr>
              <a:defRPr sz="2000"/>
            </a:pPr>
            <a:r>
              <a:rPr lang="en-GB" dirty="0"/>
              <a:t>Pattern recognition and agentic AI enhance clinical and operational decision-making.</a:t>
            </a:r>
          </a:p>
          <a:p>
            <a:pPr>
              <a:defRPr sz="2000"/>
            </a:pPr>
            <a:r>
              <a:rPr lang="en-GB" dirty="0"/>
              <a:t>Strategic AI adoption can deliver sustainable clinical, financial, and operational value.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GB" b="1" dirty="0"/>
              <a:t>Proof of Concept Overview</a:t>
            </a:r>
            <a:endParaRPr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AI Clinical Decision Support </a:t>
            </a:r>
            <a:r>
              <a:rPr lang="it-IT" dirty="0" smtClean="0"/>
              <a:t>Portal</a:t>
            </a:r>
          </a:p>
          <a:p>
            <a:pPr marL="0" indent="0">
              <a:buNone/>
            </a:pPr>
            <a:r>
              <a:rPr lang="en-GB" dirty="0" smtClean="0"/>
              <a:t>Objective:</a:t>
            </a:r>
          </a:p>
          <a:p>
            <a:pPr marL="0" indent="0">
              <a:buNone/>
            </a:pPr>
            <a:r>
              <a:rPr lang="en-GB" dirty="0"/>
              <a:t>Develop an interactive clinical decision support prototype that uses a Large Language Model (LLM) to </a:t>
            </a:r>
            <a:r>
              <a:rPr lang="en-GB" dirty="0" err="1"/>
              <a:t>analyze</a:t>
            </a:r>
            <a:r>
              <a:rPr lang="en-GB" dirty="0"/>
              <a:t> patient symptoms and generate AI-assisted clinical recommendations for Treatment, Payment, and Operations (TPO).</a:t>
            </a:r>
          </a:p>
        </p:txBody>
      </p:sp>
    </p:spTree>
    <p:extLst>
      <p:ext uri="{BB962C8B-B14F-4D97-AF65-F5344CB8AC3E}">
        <p14:creationId xmlns:p14="http://schemas.microsoft.com/office/powerpoint/2010/main" val="199982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/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068" y="2304656"/>
            <a:ext cx="7604449" cy="3946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Dullabh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Zott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Gauthreaux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Peterson, C.,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Aronoff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Monkhouse, K.,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Sittig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F. (2026). Integrating generative AI into patient-centered clinical decision support: Research and practice considerations.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Medical Internet Research, 28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e81628. 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doi.org/10.2196/81628</a:t>
            </a:r>
          </a:p>
          <a:p>
            <a:pPr marL="0" indent="0">
              <a:buNone/>
            </a:pP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Hou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Sun, H., He, P., Zhang, W.,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Ruan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(2026).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CDAFlow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Enhancing LLM clinical decision-making through agentic workflow.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Applications, 316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Article 131806. https://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doi.org/10.1016/j.eswa.2026.131806</a:t>
            </a:r>
          </a:p>
          <a:p>
            <a:pPr marL="0" indent="0">
              <a:buNone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Karcioglu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A. (2026). LLMs, RAG, and agentic workflow in clinical decision support systems: Bibliometric and systematic analysis.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Computing and Applications, 38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509–523. https://doi.org/10.1007/s00521-026-12279-6 </a:t>
            </a:r>
          </a:p>
          <a:p>
            <a:pPr marL="0" indent="0">
              <a:buNone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Lai, P., Huang, Z., Huang, X., Xu, D., Li, C., Wang, Z., </a:t>
            </a: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Cai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H., Li, X., Wu, J., Wang, C., Dai, Q., Li, L., &amp; Yu, T. (2026). An autonomous AI agent for knowledge and data cooperation in ED clinical decision support. </a:t>
            </a:r>
            <a:r>
              <a:rPr lang="en-US" sz="11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-US" sz="1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Medicine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Advance online publication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https://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doi.org/10.1038/s41746-026-02869-y</a:t>
            </a:r>
          </a:p>
          <a:p>
            <a:pPr marL="0" indent="0">
              <a:buNone/>
            </a:pP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Rajpurkar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Chen, E., Banerjee, O.,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Topol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J. (2022). AI in health and medicine.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Medicine, 28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31–38. https://doi.org/10.1038/s41591-021-01614-0 </a:t>
            </a: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Raposo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(2026).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 for clinical decision orchestration in healthcare systems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(SSRN Working Paper). https://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papers.ssrn.com/sol3/papers.cfm?abstract_id=6185219</a:t>
            </a:r>
          </a:p>
          <a:p>
            <a:pPr marL="0" indent="0">
              <a:buNone/>
            </a:pP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Vatsal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Dubey, H., &amp; Singh, A. (2026). Agentic AI in healthcare and medicine: A seven-dimensional taxonomy for empirical evaluation of LLM-based agents.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14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4840–4863. https://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doi.org/10.1109/ACCESS.2026.3651218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GB" b="1" dirty="0" smtClean="0"/>
              <a:t>Questions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  <a:defRPr sz="2000"/>
            </a:pPr>
            <a:r>
              <a:rPr lang="en-GB" dirty="0" smtClean="0"/>
              <a:t>Thank you for listening</a:t>
            </a:r>
          </a:p>
          <a:p>
            <a:pPr marL="0" indent="0" algn="ctr">
              <a:buNone/>
              <a:defRPr sz="2000"/>
            </a:pPr>
            <a:r>
              <a:rPr lang="en-GB" dirty="0" smtClean="0"/>
              <a:t>Questions?</a:t>
            </a:r>
          </a:p>
          <a:p>
            <a:pPr marL="0" indent="0">
              <a:buNone/>
              <a:defRPr sz="2000"/>
            </a:pPr>
            <a:r>
              <a:rPr dirty="0"/>
              <a:t/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057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982</TotalTime>
  <Words>912</Words>
  <Application>Microsoft Office PowerPoint</Application>
  <PresentationFormat>On-screen Show (4:3)</PresentationFormat>
  <Paragraphs>128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Times New Roman</vt:lpstr>
      <vt:lpstr>Wingdings 3</vt:lpstr>
      <vt:lpstr>Wisp</vt:lpstr>
      <vt:lpstr>Clinical Decision Making and Pattern Recognition in Health Care: Chain Reasoning, Agentic Generative AI, Classification, Prediction, Inference, Clustering, and Time-Series Anomaly Detection for Treatment, Payment, and Operations (TPO)</vt:lpstr>
      <vt:lpstr>Agenda</vt:lpstr>
      <vt:lpstr>Introduction</vt:lpstr>
      <vt:lpstr>AI-Driven Healthcare Model</vt:lpstr>
      <vt:lpstr>Concept Overview</vt:lpstr>
      <vt:lpstr>AI/ML Tasks</vt:lpstr>
      <vt:lpstr>AI Capabilities/Approaches</vt:lpstr>
      <vt:lpstr>Current Trends</vt:lpstr>
      <vt:lpstr>Opportunities</vt:lpstr>
      <vt:lpstr>Threats</vt:lpstr>
      <vt:lpstr>Strategic Recommendations for Cotiviti</vt:lpstr>
      <vt:lpstr>Proof of Concept Overview AI Clinical Decision Support Portal </vt:lpstr>
      <vt:lpstr>System Workflow Agentic AI Processing Pipeline</vt:lpstr>
      <vt:lpstr>Demonstration</vt:lpstr>
      <vt:lpstr>Engineering Highlights</vt:lpstr>
      <vt:lpstr>Conclusion</vt:lpstr>
      <vt:lpstr>Proof of Concept Overview</vt:lpstr>
      <vt:lpstr>Selected References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Decision Making and Pattern Recognition in Health Care:</dc:title>
  <dc:subject/>
  <dc:creator>HP</dc:creator>
  <cp:keywords/>
  <dc:description>generated using python-pptx</dc:description>
  <cp:lastModifiedBy>HP</cp:lastModifiedBy>
  <cp:revision>43</cp:revision>
  <dcterms:created xsi:type="dcterms:W3CDTF">2013-01-27T09:14:16Z</dcterms:created>
  <dcterms:modified xsi:type="dcterms:W3CDTF">2026-06-28T20:32:49Z</dcterms:modified>
  <cp:category/>
</cp:coreProperties>
</file>